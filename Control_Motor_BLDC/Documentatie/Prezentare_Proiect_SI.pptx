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5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1" d="100"/>
          <a:sy n="91" d="100"/>
        </p:scale>
        <p:origin x="33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B2FDF-891D-4356-ABCD-7ABE3989F7C1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BD2A2A-F2DA-4DC0-93A8-D5D0D958A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01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BD2A2A-F2DA-4DC0-93A8-D5D0D958AE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925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58D51-7418-1361-36A5-FEDF37E24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34023-A0B2-306D-4D85-D74101DAF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A166C-CB48-569B-6D9B-B64A9F412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1A8B9-B5B0-48D4-AACE-893A0EE365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FF614-71CB-C974-01FF-2F7FB8C1D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964AE-8502-F552-3D7A-85F107570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D879-03F2-46A9-BEFF-3FD9C1C07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10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AADCB-827F-4BF1-2F75-AF5CAC6FE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71BB8-53D3-A972-83C4-AD613A5B9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A087F-BB3B-6D1D-75C5-8498A5010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1A8B9-B5B0-48D4-AACE-893A0EE365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01A8E-F3F0-83BF-A7CF-D8D272FBC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6C425-D1AF-1FE6-A10C-63D616EC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D879-03F2-46A9-BEFF-3FD9C1C07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221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8C247-0C00-C291-99F9-6A059C725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8C0E2-1C49-4658-726E-44B006B7F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FDE45-2BCD-05F5-833C-051575515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1A8B9-B5B0-48D4-AACE-893A0EE365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CC87F-8C02-5F8E-A45F-D896D495E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7606D-DC54-299C-B835-AE5FBBEC4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D879-03F2-46A9-BEFF-3FD9C1C07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47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F6A38-B793-0F51-72D4-C036DEFD3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E62FB-F415-F324-89C2-FBBAAA0F8D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EE7B8-A951-2B00-D0F5-4DD9D00BF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71038-3385-7421-420D-1F99C6698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1A8B9-B5B0-48D4-AACE-893A0EE365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45359-5D18-480A-8CB1-2A7AF04C0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220AD-3789-FD83-0EE7-75316425E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D879-03F2-46A9-BEFF-3FD9C1C07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2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87A2-C243-F562-0457-C2E50EB81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25EFA-31A1-4F3B-AFDD-E6ADFB8FD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BAA46B-0788-D8AD-ED8B-AFB724951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0EA073-7A7C-2383-9AA5-9A60724B4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C33D91-D86F-2572-B7F5-59B20E6E7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AB2C7A-AA03-1049-DDD5-00B986287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1A8B9-B5B0-48D4-AACE-893A0EE365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37105-0429-AFE2-44AF-BFE49A9E3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B43F01-E4B1-C1A7-643E-39E29CD2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D879-03F2-46A9-BEFF-3FD9C1C07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74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FECD5-5BD0-BAAF-9C0A-84B72535D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966CCF-07D5-31A4-4241-92E1E26AD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1A8B9-B5B0-48D4-AACE-893A0EE365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210F9F-70E4-2B6B-7057-7F555260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BDB7A-7340-FB4C-EBB8-73B3309B6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D879-03F2-46A9-BEFF-3FD9C1C07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19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070405-E86B-2FD2-FC75-66386C94B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1A8B9-B5B0-48D4-AACE-893A0EE365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8192DF-84B1-8801-3C18-040E3F0A8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888DA-BEA2-9651-1609-504CB6B0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D879-03F2-46A9-BEFF-3FD9C1C07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117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1F3B-1067-D154-53BD-0BA0B8475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FE427-E2EF-EAE0-4F34-B5E90CA9C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C75C8A-A84E-D302-794C-73133D98B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B2434D-4B92-9B29-B68F-96BAD8BFC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1A8B9-B5B0-48D4-AACE-893A0EE365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3DDD5-7CFE-5C01-FF1E-B392D0421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0C839-A868-3B97-AF05-35B5022CA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D879-03F2-46A9-BEFF-3FD9C1C07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77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6809D-6611-70C0-12CF-1518ECD54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FB77BC-7599-A0BC-5828-E976C86948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2C4059-4939-84C9-439C-B0B8D15B9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21B64-A5E5-8379-3B97-398ACE2C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1A8B9-B5B0-48D4-AACE-893A0EE365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5C32F-37EA-721E-00DF-F8C4BE326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94714-9EA8-A26D-A17F-66251B419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D879-03F2-46A9-BEFF-3FD9C1C07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732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23A9D-8D3D-9BFB-C4DF-D9405967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39471-BE64-AF13-F0A6-461F84F21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01885-AB78-A335-5D82-936B785D5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1A8B9-B5B0-48D4-AACE-893A0EE365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D43DC-999B-B6A9-C33E-5FF5A7220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2FFFB-B669-32E8-8E4B-B70E3CE99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D879-03F2-46A9-BEFF-3FD9C1C07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835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1A845E-853F-81DF-0261-E17EAB511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9C341-A5E7-C557-2B2F-3DA3AB179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6B673-16DD-F0FF-FC64-FF956362B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1A8B9-B5B0-48D4-AACE-893A0EE365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BF7F7-5DD4-D9F7-6284-6AD303146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A9FA6-2839-C0B3-B4ED-057637879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4D879-03F2-46A9-BEFF-3FD9C1C07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791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839805-A348-7A09-0BD9-61DB22B1A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65C55-9B6E-A4A4-210A-06800CC47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DCDD8-7F53-44A2-C535-BC5F6C482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1A8B9-B5B0-48D4-AACE-893A0EE3658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6E563-E36F-1D2D-25BA-6A51F4B15C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3F6A8-231B-59CA-835B-299366C49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4D879-03F2-46A9-BEFF-3FD9C1C07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326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82CC7-3330-3914-A837-2D051F12E3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Proiect</a:t>
            </a:r>
            <a:r>
              <a:rPr lang="en-US" dirty="0"/>
              <a:t> SI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CF066-9314-D297-0486-7CC6A80BC1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Grupa 2141</a:t>
            </a:r>
          </a:p>
        </p:txBody>
      </p:sp>
    </p:spTree>
    <p:extLst>
      <p:ext uri="{BB962C8B-B14F-4D97-AF65-F5344CB8AC3E}">
        <p14:creationId xmlns:p14="http://schemas.microsoft.com/office/powerpoint/2010/main" val="1644819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D288D-4672-22CA-5386-53881E6D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integratului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365787-E28A-FF27-20DB-22136D4E81E5}"/>
              </a:ext>
            </a:extLst>
          </p:cNvPr>
          <p:cNvSpPr txBox="1"/>
          <p:nvPr/>
        </p:nvSpPr>
        <p:spPr>
          <a:xfrm>
            <a:off x="357352" y="1893755"/>
            <a:ext cx="598117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STSPIN32F0</a:t>
            </a:r>
          </a:p>
          <a:p>
            <a:r>
              <a:rPr lang="en-US" dirty="0" err="1"/>
              <a:t>Avantaje</a:t>
            </a:r>
            <a:r>
              <a:rPr lang="en-US" dirty="0"/>
              <a:t>: </a:t>
            </a:r>
          </a:p>
          <a:p>
            <a:pPr marL="285750" indent="-285750" algn="just">
              <a:buFontTx/>
              <a:buChar char="-"/>
            </a:pPr>
            <a:r>
              <a:rPr lang="ro-RO" dirty="0"/>
              <a:t>1</a:t>
            </a:r>
            <a:r>
              <a:rPr lang="en-US" dirty="0"/>
              <a:t> MCU</a:t>
            </a:r>
            <a:r>
              <a:rPr lang="ro-RO" dirty="0"/>
              <a:t> (</a:t>
            </a:r>
            <a:r>
              <a:rPr lang="en-US" dirty="0" err="1"/>
              <a:t>algoritmii</a:t>
            </a:r>
            <a:r>
              <a:rPr lang="en-US" dirty="0"/>
              <a:t> de control, </a:t>
            </a:r>
            <a:r>
              <a:rPr lang="en-US" dirty="0" err="1"/>
              <a:t>generarea</a:t>
            </a:r>
            <a:r>
              <a:rPr lang="en-US" dirty="0"/>
              <a:t> </a:t>
            </a:r>
            <a:r>
              <a:rPr lang="en-US" dirty="0" err="1"/>
              <a:t>semnalelor</a:t>
            </a:r>
            <a:r>
              <a:rPr lang="en-US" dirty="0"/>
              <a:t> PWM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citirea</a:t>
            </a:r>
            <a:r>
              <a:rPr lang="en-US" dirty="0"/>
              <a:t> </a:t>
            </a:r>
            <a:r>
              <a:rPr lang="en-US" dirty="0" err="1"/>
              <a:t>senzorilor</a:t>
            </a:r>
            <a:r>
              <a:rPr lang="ro-RO" dirty="0"/>
              <a:t>)</a:t>
            </a:r>
          </a:p>
          <a:p>
            <a:pPr algn="just"/>
            <a:endParaRPr lang="en-US" dirty="0"/>
          </a:p>
          <a:p>
            <a:pPr marL="285750" indent="-285750" algn="just">
              <a:buFontTx/>
              <a:buChar char="-"/>
            </a:pPr>
            <a:r>
              <a:rPr lang="en-US" dirty="0"/>
              <a:t>Driver, LDO, Buck convertor </a:t>
            </a:r>
            <a:r>
              <a:rPr lang="en-US" dirty="0" err="1"/>
              <a:t>integrat</a:t>
            </a:r>
            <a:endParaRPr lang="ro-RO" dirty="0"/>
          </a:p>
          <a:p>
            <a:pPr algn="just"/>
            <a:endParaRPr lang="en-US" dirty="0"/>
          </a:p>
          <a:p>
            <a:pPr marL="285750" indent="-285750" algn="just">
              <a:buFontTx/>
              <a:buChar char="-"/>
            </a:pPr>
            <a:r>
              <a:rPr lang="en-US" dirty="0" err="1"/>
              <a:t>Controlul</a:t>
            </a:r>
            <a:r>
              <a:rPr lang="en-US" dirty="0"/>
              <a:t> </a:t>
            </a:r>
            <a:r>
              <a:rPr lang="en-US" dirty="0" err="1"/>
              <a:t>motorului</a:t>
            </a:r>
            <a:r>
              <a:rPr lang="en-US" dirty="0"/>
              <a:t> se face </a:t>
            </a:r>
            <a:r>
              <a:rPr lang="en-US" dirty="0" err="1"/>
              <a:t>prin</a:t>
            </a:r>
            <a:r>
              <a:rPr lang="en-US" dirty="0"/>
              <a:t> m</a:t>
            </a:r>
            <a:r>
              <a:rPr lang="ro-RO" dirty="0" err="1"/>
              <a:t>ăsurarea</a:t>
            </a:r>
            <a:r>
              <a:rPr lang="ro-RO" dirty="0"/>
              <a:t> tensiunii senzorilor </a:t>
            </a:r>
            <a:r>
              <a:rPr lang="ro-RO" dirty="0" err="1"/>
              <a:t>Hall</a:t>
            </a:r>
            <a:r>
              <a:rPr lang="ro-RO" dirty="0"/>
              <a:t> cu ajutorul integratului</a:t>
            </a:r>
          </a:p>
          <a:p>
            <a:pPr algn="just"/>
            <a:endParaRPr lang="ro-RO" dirty="0"/>
          </a:p>
          <a:p>
            <a:pPr marL="285750" indent="-285750" algn="just">
              <a:buFontTx/>
              <a:buChar char="-"/>
            </a:pPr>
            <a:r>
              <a:rPr lang="ro-RO" dirty="0"/>
              <a:t>Comparator cu </a:t>
            </a:r>
            <a:r>
              <a:rPr lang="ro-RO" dirty="0" err="1"/>
              <a:t>treshold</a:t>
            </a:r>
            <a:r>
              <a:rPr lang="ro-RO" dirty="0"/>
              <a:t> programabil pentru </a:t>
            </a:r>
            <a:r>
              <a:rPr lang="ro-RO" dirty="0" err="1"/>
              <a:t>protectia</a:t>
            </a:r>
            <a:r>
              <a:rPr lang="ro-RO" dirty="0"/>
              <a:t> la supracurent (prin rezistorul de șunt)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A8477D-D8C9-D39B-D2F7-D9CEC61929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53" t="1379" r="5608" b="2452"/>
          <a:stretch>
            <a:fillRect/>
          </a:stretch>
        </p:blipFill>
        <p:spPr>
          <a:xfrm>
            <a:off x="6492240" y="73570"/>
            <a:ext cx="4554132" cy="658336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AD3F9D6-F488-0151-5B2F-34BE4F64D6A9}"/>
              </a:ext>
            </a:extLst>
          </p:cNvPr>
          <p:cNvSpPr/>
          <p:nvPr/>
        </p:nvSpPr>
        <p:spPr>
          <a:xfrm>
            <a:off x="7168055" y="73571"/>
            <a:ext cx="3652345" cy="128189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46840-E926-861E-B9DE-B2D91D23A0C1}"/>
              </a:ext>
            </a:extLst>
          </p:cNvPr>
          <p:cNvSpPr txBox="1"/>
          <p:nvPr/>
        </p:nvSpPr>
        <p:spPr>
          <a:xfrm>
            <a:off x="11003280" y="477445"/>
            <a:ext cx="1131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/>
              <a:t>Driver pentru invertor</a:t>
            </a:r>
            <a:endParaRPr lang="en-US" sz="12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D210C6-A80C-3421-07FE-02703AA10B07}"/>
              </a:ext>
            </a:extLst>
          </p:cNvPr>
          <p:cNvCxnSpPr>
            <a:cxnSpLocks/>
          </p:cNvCxnSpPr>
          <p:nvPr/>
        </p:nvCxnSpPr>
        <p:spPr>
          <a:xfrm flipH="1" flipV="1">
            <a:off x="10885038" y="701169"/>
            <a:ext cx="182880" cy="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25E2FA6-FEB2-BC22-0B19-CFC528A7B992}"/>
              </a:ext>
            </a:extLst>
          </p:cNvPr>
          <p:cNvSpPr/>
          <p:nvPr/>
        </p:nvSpPr>
        <p:spPr>
          <a:xfrm>
            <a:off x="8924844" y="2070847"/>
            <a:ext cx="2275242" cy="156393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EAF12D3-3E60-60E5-521D-1D7290A3000D}"/>
              </a:ext>
            </a:extLst>
          </p:cNvPr>
          <p:cNvCxnSpPr>
            <a:cxnSpLocks/>
          </p:cNvCxnSpPr>
          <p:nvPr/>
        </p:nvCxnSpPr>
        <p:spPr>
          <a:xfrm flipV="1">
            <a:off x="6338526" y="3318734"/>
            <a:ext cx="2564772" cy="74765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8109EF2-F154-7623-3A86-D6EDA61CC447}"/>
              </a:ext>
            </a:extLst>
          </p:cNvPr>
          <p:cNvSpPr/>
          <p:nvPr/>
        </p:nvSpPr>
        <p:spPr>
          <a:xfrm>
            <a:off x="6648225" y="2435995"/>
            <a:ext cx="1684917" cy="993005"/>
          </a:xfrm>
          <a:prstGeom prst="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CA79B5-8D44-B283-8406-DA87A76CEC09}"/>
              </a:ext>
            </a:extLst>
          </p:cNvPr>
          <p:cNvSpPr/>
          <p:nvPr/>
        </p:nvSpPr>
        <p:spPr>
          <a:xfrm>
            <a:off x="6648225" y="1690688"/>
            <a:ext cx="1398495" cy="62380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393BB3-574B-38ED-ABAD-D9F99D4FA950}"/>
              </a:ext>
            </a:extLst>
          </p:cNvPr>
          <p:cNvSpPr/>
          <p:nvPr/>
        </p:nvSpPr>
        <p:spPr>
          <a:xfrm>
            <a:off x="9723599" y="1444070"/>
            <a:ext cx="1322773" cy="558522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933590-1C1A-39EE-2BF2-7B0DF50AA577}"/>
              </a:ext>
            </a:extLst>
          </p:cNvPr>
          <p:cNvSpPr/>
          <p:nvPr/>
        </p:nvSpPr>
        <p:spPr>
          <a:xfrm>
            <a:off x="7765677" y="4288659"/>
            <a:ext cx="2275242" cy="1563939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1986059-CD52-645C-0D56-8F956D88059A}"/>
              </a:ext>
            </a:extLst>
          </p:cNvPr>
          <p:cNvCxnSpPr>
            <a:cxnSpLocks/>
          </p:cNvCxnSpPr>
          <p:nvPr/>
        </p:nvCxnSpPr>
        <p:spPr>
          <a:xfrm>
            <a:off x="5622603" y="2852816"/>
            <a:ext cx="1951056" cy="210077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333EEDF-E7AF-49B5-0264-06CCAD43F710}"/>
              </a:ext>
            </a:extLst>
          </p:cNvPr>
          <p:cNvSpPr txBox="1"/>
          <p:nvPr/>
        </p:nvSpPr>
        <p:spPr>
          <a:xfrm>
            <a:off x="6634331" y="1277715"/>
            <a:ext cx="11313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/>
              <a:t>LDO</a:t>
            </a:r>
            <a:endParaRPr 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4B6A40-3044-65DA-F53D-B7515CEB6C03}"/>
              </a:ext>
            </a:extLst>
          </p:cNvPr>
          <p:cNvSpPr txBox="1"/>
          <p:nvPr/>
        </p:nvSpPr>
        <p:spPr>
          <a:xfrm>
            <a:off x="5931643" y="2148631"/>
            <a:ext cx="716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/>
              <a:t>Buck</a:t>
            </a:r>
            <a:endParaRPr lang="en-US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64A13B-BB2D-9773-4401-7D6C4064C3DE}"/>
              </a:ext>
            </a:extLst>
          </p:cNvPr>
          <p:cNvSpPr txBox="1"/>
          <p:nvPr/>
        </p:nvSpPr>
        <p:spPr>
          <a:xfrm>
            <a:off x="11201415" y="1481944"/>
            <a:ext cx="11313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/>
              <a:t>Comparator</a:t>
            </a:r>
            <a:endParaRPr lang="en-US" sz="12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D783A33-A676-9D5C-6F6B-7B741D7659D0}"/>
              </a:ext>
            </a:extLst>
          </p:cNvPr>
          <p:cNvCxnSpPr>
            <a:cxnSpLocks/>
          </p:cNvCxnSpPr>
          <p:nvPr/>
        </p:nvCxnSpPr>
        <p:spPr>
          <a:xfrm flipH="1" flipV="1">
            <a:off x="11090253" y="1620443"/>
            <a:ext cx="182880" cy="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C181094-0A20-92BD-9F25-6E2B29AD434D}"/>
              </a:ext>
            </a:extLst>
          </p:cNvPr>
          <p:cNvCxnSpPr>
            <a:cxnSpLocks/>
          </p:cNvCxnSpPr>
          <p:nvPr/>
        </p:nvCxnSpPr>
        <p:spPr>
          <a:xfrm>
            <a:off x="6836576" y="1493884"/>
            <a:ext cx="0" cy="17043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B0E26E7-27F3-7CA6-C1A6-FEDE3404E767}"/>
              </a:ext>
            </a:extLst>
          </p:cNvPr>
          <p:cNvCxnSpPr>
            <a:cxnSpLocks/>
          </p:cNvCxnSpPr>
          <p:nvPr/>
        </p:nvCxnSpPr>
        <p:spPr>
          <a:xfrm>
            <a:off x="6337197" y="2425630"/>
            <a:ext cx="241206" cy="356207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496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CD10D-DBFE-D863-DF83-F1D88180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Proiectarea/Alegerea celorlalte componente necesare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C17576-CD9D-5134-D949-B346FF4E3A8D}"/>
              </a:ext>
            </a:extLst>
          </p:cNvPr>
          <p:cNvSpPr txBox="1"/>
          <p:nvPr/>
        </p:nvSpPr>
        <p:spPr>
          <a:xfrm>
            <a:off x="407007" y="2728177"/>
            <a:ext cx="56889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o-RO" dirty="0"/>
              <a:t>Power </a:t>
            </a:r>
            <a:r>
              <a:rPr lang="ro-RO" dirty="0" err="1"/>
              <a:t>supply</a:t>
            </a:r>
            <a:r>
              <a:rPr lang="ro-RO" dirty="0"/>
              <a:t> </a:t>
            </a:r>
            <a:r>
              <a:rPr lang="ro-RO" dirty="0" err="1"/>
              <a:t>voltage</a:t>
            </a:r>
            <a:r>
              <a:rPr lang="ro-RO" dirty="0"/>
              <a:t> </a:t>
            </a:r>
            <a:r>
              <a:rPr lang="ro-RO" dirty="0" err="1"/>
              <a:t>range</a:t>
            </a:r>
            <a:r>
              <a:rPr lang="ro-RO" dirty="0"/>
              <a:t> for </a:t>
            </a:r>
            <a:r>
              <a:rPr lang="en-US" dirty="0"/>
              <a:t>STSPIN32F0:</a:t>
            </a:r>
            <a:r>
              <a:rPr lang="ro-RO" dirty="0"/>
              <a:t> 8 </a:t>
            </a:r>
            <a:r>
              <a:rPr lang="ro-RO" dirty="0" err="1"/>
              <a:t>to</a:t>
            </a:r>
            <a:r>
              <a:rPr lang="ro-RO" dirty="0"/>
              <a:t> 45 V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Current </a:t>
            </a:r>
            <a:r>
              <a:rPr lang="en-US" dirty="0" err="1"/>
              <a:t>consumtion</a:t>
            </a:r>
            <a:r>
              <a:rPr lang="en-US" dirty="0"/>
              <a:t>: </a:t>
            </a:r>
            <a:r>
              <a:rPr lang="en-US" dirty="0" err="1"/>
              <a:t>typ</a:t>
            </a:r>
            <a:r>
              <a:rPr lang="en-US" dirty="0"/>
              <a:t> 2 mA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0823F9-DA2D-5A5E-6DA4-CDDF8E724392}"/>
              </a:ext>
            </a:extLst>
          </p:cNvPr>
          <p:cNvSpPr txBox="1"/>
          <p:nvPr/>
        </p:nvSpPr>
        <p:spPr>
          <a:xfrm>
            <a:off x="7218370" y="2531255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</a:t>
            </a:r>
            <a:r>
              <a:rPr lang="en-US" dirty="0" err="1"/>
              <a:t>baterie</a:t>
            </a:r>
            <a:r>
              <a:rPr lang="en-US" dirty="0"/>
              <a:t> 36V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77B080-944C-AED6-FA3A-62363C54BF81}"/>
              </a:ext>
            </a:extLst>
          </p:cNvPr>
          <p:cNvSpPr txBox="1"/>
          <p:nvPr/>
        </p:nvSpPr>
        <p:spPr>
          <a:xfrm>
            <a:off x="7228252" y="2949075"/>
            <a:ext cx="1887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Motor 36V, 10 A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3143C-CBA0-A75A-F155-EFCDF765B9CA}"/>
              </a:ext>
            </a:extLst>
          </p:cNvPr>
          <p:cNvSpPr/>
          <p:nvPr/>
        </p:nvSpPr>
        <p:spPr>
          <a:xfrm>
            <a:off x="5089273" y="2728177"/>
            <a:ext cx="944880" cy="317352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BE4B38-B61A-AF85-C58C-4A5F9941F5C7}"/>
              </a:ext>
            </a:extLst>
          </p:cNvPr>
          <p:cNvCxnSpPr>
            <a:cxnSpLocks/>
          </p:cNvCxnSpPr>
          <p:nvPr/>
        </p:nvCxnSpPr>
        <p:spPr>
          <a:xfrm flipV="1">
            <a:off x="6209831" y="2742458"/>
            <a:ext cx="894708" cy="8253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968294-B794-BED0-41E9-7EA0584C1338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6209831" y="2949075"/>
            <a:ext cx="1018421" cy="18466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12D2F8B-5A1E-3928-D37C-82735C5C802A}"/>
              </a:ext>
            </a:extLst>
          </p:cNvPr>
          <p:cNvSpPr/>
          <p:nvPr/>
        </p:nvSpPr>
        <p:spPr>
          <a:xfrm>
            <a:off x="7394028" y="2557792"/>
            <a:ext cx="1308898" cy="317352"/>
          </a:xfrm>
          <a:prstGeom prst="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E1C395-ED1B-4C2A-1FA5-C595AC204A3E}"/>
              </a:ext>
            </a:extLst>
          </p:cNvPr>
          <p:cNvSpPr/>
          <p:nvPr/>
        </p:nvSpPr>
        <p:spPr>
          <a:xfrm>
            <a:off x="8519168" y="2975065"/>
            <a:ext cx="521747" cy="317352"/>
          </a:xfrm>
          <a:prstGeom prst="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07168E0-1DF7-BFD9-0242-56B5AACA42ED}"/>
              </a:ext>
            </a:extLst>
          </p:cNvPr>
          <p:cNvCxnSpPr>
            <a:cxnSpLocks/>
          </p:cNvCxnSpPr>
          <p:nvPr/>
        </p:nvCxnSpPr>
        <p:spPr>
          <a:xfrm>
            <a:off x="9021226" y="2626883"/>
            <a:ext cx="1113143" cy="150835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91AABDD-F06A-7471-0409-B19569FAF9CE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9115948" y="2875144"/>
            <a:ext cx="1018421" cy="258597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13949F4-9194-2C08-6B81-CFC5217C0770}"/>
              </a:ext>
            </a:extLst>
          </p:cNvPr>
          <p:cNvSpPr txBox="1"/>
          <p:nvPr/>
        </p:nvSpPr>
        <p:spPr>
          <a:xfrm>
            <a:off x="10209402" y="2326959"/>
            <a:ext cx="13196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</a:t>
            </a:r>
            <a:r>
              <a:rPr lang="en-US" dirty="0" err="1"/>
              <a:t>tranzistori</a:t>
            </a:r>
            <a:r>
              <a:rPr lang="en-US" dirty="0"/>
              <a:t> din half bridge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EDB5C0-F8C0-3895-7698-4368F68263BB}"/>
              </a:ext>
            </a:extLst>
          </p:cNvPr>
          <p:cNvSpPr/>
          <p:nvPr/>
        </p:nvSpPr>
        <p:spPr>
          <a:xfrm flipH="1">
            <a:off x="10163061" y="2158794"/>
            <a:ext cx="1258918" cy="154610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4B9FA01-EC4B-A7CB-8A6F-FCDCA3257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205" y="4060328"/>
            <a:ext cx="4850272" cy="18406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8A6BE29-C4FE-CEBF-772F-1AD8E4BFB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572" y="3782241"/>
            <a:ext cx="2217979" cy="216094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492365E-2126-3E5A-26D3-0F71722715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84" t="9844" r="4691" b="1372"/>
          <a:stretch>
            <a:fillRect/>
          </a:stretch>
        </p:blipFill>
        <p:spPr>
          <a:xfrm>
            <a:off x="8034571" y="4080283"/>
            <a:ext cx="1986615" cy="192672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D5F6E4E-C61C-2F0B-B367-D68D12617F50}"/>
              </a:ext>
            </a:extLst>
          </p:cNvPr>
          <p:cNvSpPr txBox="1"/>
          <p:nvPr/>
        </p:nvSpPr>
        <p:spPr>
          <a:xfrm>
            <a:off x="3774558" y="6049926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25$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63C787-C69E-B9D6-CFC9-5BC77C8BE86B}"/>
              </a:ext>
            </a:extLst>
          </p:cNvPr>
          <p:cNvSpPr txBox="1"/>
          <p:nvPr/>
        </p:nvSpPr>
        <p:spPr>
          <a:xfrm>
            <a:off x="10074349" y="4796004"/>
            <a:ext cx="1921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=&gt; </a:t>
            </a:r>
            <a:r>
              <a:rPr lang="en-US" dirty="0" err="1"/>
              <a:t>Senzori</a:t>
            </a:r>
            <a:r>
              <a:rPr lang="en-US" dirty="0"/>
              <a:t> </a:t>
            </a:r>
            <a:r>
              <a:rPr lang="en-US" dirty="0" err="1"/>
              <a:t>digitali</a:t>
            </a:r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B6BEE6B-D89A-82EF-6DC5-F568E582FC43}"/>
              </a:ext>
            </a:extLst>
          </p:cNvPr>
          <p:cNvCxnSpPr>
            <a:cxnSpLocks/>
          </p:cNvCxnSpPr>
          <p:nvPr/>
        </p:nvCxnSpPr>
        <p:spPr>
          <a:xfrm flipH="1">
            <a:off x="5290258" y="3292417"/>
            <a:ext cx="2103770" cy="84350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661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80B82A-C811-EA0C-C7E9-47980A0046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74" r="2282"/>
          <a:stretch>
            <a:fillRect/>
          </a:stretch>
        </p:blipFill>
        <p:spPr>
          <a:xfrm rot="5400000">
            <a:off x="3127886" y="-1167706"/>
            <a:ext cx="6451234" cy="92806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929AAC-BB96-8ADB-CF7D-9EB3CDF331D1}"/>
              </a:ext>
            </a:extLst>
          </p:cNvPr>
          <p:cNvSpPr txBox="1"/>
          <p:nvPr/>
        </p:nvSpPr>
        <p:spPr>
          <a:xfrm>
            <a:off x="415159" y="304800"/>
            <a:ext cx="1518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Application </a:t>
            </a:r>
            <a:r>
              <a:rPr lang="en-US" b="1" dirty="0" err="1"/>
              <a:t>exemple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93823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F88A7C-AB80-8A05-8373-AB683E0A7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03" y="95789"/>
            <a:ext cx="6607362" cy="61934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47285F-C470-00EB-A925-2360023C2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128" y="92923"/>
            <a:ext cx="5126753" cy="61963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7552AB-6712-7B1B-05E8-30753681487F}"/>
              </a:ext>
            </a:extLst>
          </p:cNvPr>
          <p:cNvSpPr txBox="1"/>
          <p:nvPr/>
        </p:nvSpPr>
        <p:spPr>
          <a:xfrm>
            <a:off x="304800" y="3429000"/>
            <a:ext cx="14503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RST active 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E5A61C-1450-FA61-C504-786B1927546B}"/>
              </a:ext>
            </a:extLst>
          </p:cNvPr>
          <p:cNvSpPr txBox="1"/>
          <p:nvPr/>
        </p:nvSpPr>
        <p:spPr>
          <a:xfrm>
            <a:off x="5327136" y="2427889"/>
            <a:ext cx="1665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Condensatori</a:t>
            </a:r>
            <a:r>
              <a:rPr lang="en-US" b="1" dirty="0"/>
              <a:t> de </a:t>
            </a:r>
            <a:r>
              <a:rPr lang="en-US" b="1" dirty="0" err="1"/>
              <a:t>decuplare</a:t>
            </a:r>
            <a:endParaRPr lang="en-US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9ECA6D-FE06-62DD-6063-8FDF22AD28EC}"/>
              </a:ext>
            </a:extLst>
          </p:cNvPr>
          <p:cNvSpPr/>
          <p:nvPr/>
        </p:nvSpPr>
        <p:spPr>
          <a:xfrm>
            <a:off x="1513490" y="1755227"/>
            <a:ext cx="1014248" cy="388883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387337-B404-644E-E7E9-E892DFAA2614}"/>
              </a:ext>
            </a:extLst>
          </p:cNvPr>
          <p:cNvSpPr txBox="1"/>
          <p:nvPr/>
        </p:nvSpPr>
        <p:spPr>
          <a:xfrm>
            <a:off x="257503" y="1453405"/>
            <a:ext cx="1890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FF0000"/>
                </a:solidFill>
              </a:rPr>
              <a:t>Conectata</a:t>
            </a:r>
            <a:r>
              <a:rPr lang="en-US" sz="1200" dirty="0">
                <a:solidFill>
                  <a:srgbClr val="FF0000"/>
                </a:solidFill>
              </a:rPr>
              <a:t> intern la GND?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D1EF0CC6-3BAC-B353-EF4B-7E263862E4B6}"/>
              </a:ext>
            </a:extLst>
          </p:cNvPr>
          <p:cNvSpPr/>
          <p:nvPr/>
        </p:nvSpPr>
        <p:spPr>
          <a:xfrm>
            <a:off x="4593022" y="4130566"/>
            <a:ext cx="278524" cy="1376855"/>
          </a:xfrm>
          <a:prstGeom prst="rightBrac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34AE21-8FA5-95F6-63CC-31C752443E11}"/>
              </a:ext>
            </a:extLst>
          </p:cNvPr>
          <p:cNvSpPr txBox="1"/>
          <p:nvPr/>
        </p:nvSpPr>
        <p:spPr>
          <a:xfrm>
            <a:off x="4871546" y="4665104"/>
            <a:ext cx="4772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Motor cu 3 faze, 3 </a:t>
            </a:r>
            <a:r>
              <a:rPr lang="en-US" sz="1400" dirty="0" err="1"/>
              <a:t>senzori</a:t>
            </a:r>
            <a:r>
              <a:rPr lang="en-US" sz="1400" dirty="0"/>
              <a:t> Hall de la care </a:t>
            </a:r>
            <a:r>
              <a:rPr lang="en-US" sz="1400" dirty="0" err="1"/>
              <a:t>preluam</a:t>
            </a:r>
            <a:r>
              <a:rPr lang="en-US" sz="1400" dirty="0"/>
              <a:t> </a:t>
            </a:r>
            <a:r>
              <a:rPr lang="en-US" sz="1400" dirty="0" err="1"/>
              <a:t>tensiunea</a:t>
            </a:r>
            <a:endParaRPr 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F66D5F-03BC-5CD7-35F3-CE843AA4A44F}"/>
              </a:ext>
            </a:extLst>
          </p:cNvPr>
          <p:cNvSpPr txBox="1"/>
          <p:nvPr/>
        </p:nvSpPr>
        <p:spPr>
          <a:xfrm>
            <a:off x="257503" y="168515"/>
            <a:ext cx="27946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CIRCUIT INITIAL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68214E-406E-10E2-4B24-861B8CC1A9B4}"/>
              </a:ext>
            </a:extLst>
          </p:cNvPr>
          <p:cNvSpPr txBox="1"/>
          <p:nvPr/>
        </p:nvSpPr>
        <p:spPr>
          <a:xfrm>
            <a:off x="4987159" y="5082540"/>
            <a:ext cx="34736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Le-am fi </a:t>
            </a:r>
            <a:r>
              <a:rPr lang="en-US" sz="1400" dirty="0" err="1">
                <a:solidFill>
                  <a:srgbClr val="FF0000"/>
                </a:solidFill>
              </a:rPr>
              <a:t>folosit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daca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senzorii</a:t>
            </a:r>
            <a:r>
              <a:rPr lang="en-US" sz="1400" dirty="0">
                <a:solidFill>
                  <a:srgbClr val="FF0000"/>
                </a:solidFill>
              </a:rPr>
              <a:t> HALL </a:t>
            </a:r>
            <a:r>
              <a:rPr lang="en-US" sz="1400" dirty="0" err="1">
                <a:solidFill>
                  <a:srgbClr val="FF0000"/>
                </a:solidFill>
              </a:rPr>
              <a:t>aveau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interfata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analogica</a:t>
            </a:r>
            <a:r>
              <a:rPr lang="en-US" sz="1400" dirty="0">
                <a:solidFill>
                  <a:srgbClr val="FF0000"/>
                </a:solidFill>
              </a:rPr>
              <a:t>, </a:t>
            </a:r>
            <a:r>
              <a:rPr lang="en-US" sz="1400" dirty="0" err="1">
                <a:solidFill>
                  <a:srgbClr val="FF0000"/>
                </a:solidFill>
              </a:rPr>
              <a:t>aici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avem</a:t>
            </a:r>
            <a:r>
              <a:rPr lang="en-US" sz="1400" dirty="0">
                <a:solidFill>
                  <a:srgbClr val="FF0000"/>
                </a:solidFill>
              </a:rPr>
              <a:t> o </a:t>
            </a:r>
            <a:r>
              <a:rPr lang="en-US" sz="1400" dirty="0" err="1">
                <a:solidFill>
                  <a:srgbClr val="FF0000"/>
                </a:solidFill>
              </a:rPr>
              <a:t>propunere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sa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folosim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pinii</a:t>
            </a:r>
            <a:r>
              <a:rPr lang="en-US" sz="1400" dirty="0">
                <a:solidFill>
                  <a:srgbClr val="FF0000"/>
                </a:solidFill>
              </a:rPr>
              <a:t> PA2/4/5, </a:t>
            </a:r>
            <a:r>
              <a:rPr lang="en-US" sz="1400" dirty="0" err="1">
                <a:solidFill>
                  <a:srgbClr val="FF0000"/>
                </a:solidFill>
              </a:rPr>
              <a:t>dar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si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ei</a:t>
            </a:r>
            <a:r>
              <a:rPr lang="en-US" sz="1400" dirty="0">
                <a:solidFill>
                  <a:srgbClr val="FF0000"/>
                </a:solidFill>
              </a:rPr>
              <a:t> au input analogic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29BE1-64AB-3F39-B544-261E82A2F583}"/>
              </a:ext>
            </a:extLst>
          </p:cNvPr>
          <p:cNvSpPr txBox="1"/>
          <p:nvPr/>
        </p:nvSpPr>
        <p:spPr>
          <a:xfrm>
            <a:off x="9906000" y="3481523"/>
            <a:ext cx="22334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Aici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Rsunt</a:t>
            </a:r>
            <a:r>
              <a:rPr lang="en-US" sz="1400" dirty="0">
                <a:solidFill>
                  <a:srgbClr val="FF0000"/>
                </a:solidFill>
              </a:rPr>
              <a:t> nu e </a:t>
            </a:r>
            <a:r>
              <a:rPr lang="en-US" sz="1400" dirty="0" err="1">
                <a:solidFill>
                  <a:srgbClr val="FF0000"/>
                </a:solidFill>
              </a:rPr>
              <a:t>conectata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intocmai</a:t>
            </a:r>
            <a:r>
              <a:rPr lang="en-US" sz="1400" dirty="0">
                <a:solidFill>
                  <a:srgbClr val="FF0000"/>
                </a:solidFill>
              </a:rPr>
              <a:t> cum </a:t>
            </a:r>
            <a:r>
              <a:rPr lang="en-US" sz="1400" dirty="0" err="1">
                <a:solidFill>
                  <a:srgbClr val="FF0000"/>
                </a:solidFill>
              </a:rPr>
              <a:t>trebuie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dar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problema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este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remediata</a:t>
            </a:r>
            <a:r>
              <a:rPr lang="en-US" sz="1400" dirty="0">
                <a:solidFill>
                  <a:srgbClr val="FF0000"/>
                </a:solidFill>
              </a:rPr>
              <a:t> in </a:t>
            </a:r>
            <a:r>
              <a:rPr lang="en-US" sz="1400" dirty="0" err="1">
                <a:solidFill>
                  <a:srgbClr val="FF0000"/>
                </a:solidFill>
              </a:rPr>
              <a:t>cele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ce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urmeaza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922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9D0FA2-94F2-41E9-0F77-169FD795EC48}"/>
              </a:ext>
            </a:extLst>
          </p:cNvPr>
          <p:cNvSpPr txBox="1"/>
          <p:nvPr/>
        </p:nvSpPr>
        <p:spPr>
          <a:xfrm>
            <a:off x="409904" y="278524"/>
            <a:ext cx="6928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Buck Convertor: 3.3V </a:t>
            </a:r>
            <a:r>
              <a:rPr lang="en-US" b="1" dirty="0" err="1"/>
              <a:t>alimenteaza</a:t>
            </a:r>
            <a:r>
              <a:rPr lang="en-US" b="1" dirty="0"/>
              <a:t> MCU </a:t>
            </a:r>
            <a:r>
              <a:rPr lang="en-US" b="1" dirty="0" err="1"/>
              <a:t>si</a:t>
            </a:r>
            <a:r>
              <a:rPr lang="en-US" b="1" dirty="0"/>
              <a:t> </a:t>
            </a:r>
            <a:r>
              <a:rPr lang="en-US" b="1" dirty="0" err="1"/>
              <a:t>componentele</a:t>
            </a:r>
            <a:r>
              <a:rPr lang="en-US" b="1" dirty="0"/>
              <a:t> </a:t>
            </a:r>
            <a:r>
              <a:rPr lang="en-US" b="1" dirty="0" err="1"/>
              <a:t>extrene</a:t>
            </a:r>
            <a:endParaRPr lang="en-US" b="1" dirty="0"/>
          </a:p>
          <a:p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BA4844-99E6-DD36-9E64-47B7D4DA8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04" y="933283"/>
            <a:ext cx="5824725" cy="35598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6F441C-8364-4E48-FB7A-4CD13ED4622B}"/>
              </a:ext>
            </a:extLst>
          </p:cNvPr>
          <p:cNvSpPr txBox="1"/>
          <p:nvPr/>
        </p:nvSpPr>
        <p:spPr>
          <a:xfrm>
            <a:off x="583326" y="1608083"/>
            <a:ext cx="876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SW pin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2E506A-8433-C915-E89A-07F41A0976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3" r="1443"/>
          <a:stretch>
            <a:fillRect/>
          </a:stretch>
        </p:blipFill>
        <p:spPr>
          <a:xfrm>
            <a:off x="368859" y="4730263"/>
            <a:ext cx="6208949" cy="10924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D4FBE7-D412-3C61-4173-FF0EC70E97F4}"/>
              </a:ext>
            </a:extLst>
          </p:cNvPr>
          <p:cNvSpPr txBox="1"/>
          <p:nvPr/>
        </p:nvSpPr>
        <p:spPr>
          <a:xfrm>
            <a:off x="6658983" y="4867706"/>
            <a:ext cx="4927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Trebuie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pusa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rezistenta</a:t>
            </a:r>
            <a:r>
              <a:rPr lang="en-US" dirty="0">
                <a:solidFill>
                  <a:srgbClr val="FF0000"/>
                </a:solidFill>
              </a:rPr>
              <a:t> de ESR!! La </a:t>
            </a:r>
            <a:r>
              <a:rPr lang="en-US" dirty="0" err="1">
                <a:solidFill>
                  <a:srgbClr val="FF0000"/>
                </a:solidFill>
              </a:rPr>
              <a:t>fel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si</a:t>
            </a:r>
            <a:r>
              <a:rPr lang="en-US" dirty="0">
                <a:solidFill>
                  <a:srgbClr val="FF0000"/>
                </a:solidFill>
              </a:rPr>
              <a:t> la regulator ESR 1.2 ohm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AFB972-5264-1826-0A4A-3FD478F4B9BF}"/>
              </a:ext>
            </a:extLst>
          </p:cNvPr>
          <p:cNvSpPr txBox="1"/>
          <p:nvPr/>
        </p:nvSpPr>
        <p:spPr>
          <a:xfrm>
            <a:off x="6299892" y="2183789"/>
            <a:ext cx="55413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en-US" dirty="0" err="1"/>
              <a:t>Aici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fi </a:t>
            </a:r>
            <a:r>
              <a:rPr lang="en-US" dirty="0" err="1"/>
              <a:t>necesara</a:t>
            </a:r>
            <a:r>
              <a:rPr lang="en-US" dirty="0"/>
              <a:t> o </a:t>
            </a:r>
            <a:r>
              <a:rPr lang="en-US" dirty="0" err="1"/>
              <a:t>verificare</a:t>
            </a:r>
            <a:r>
              <a:rPr lang="en-US" dirty="0"/>
              <a:t> in </a:t>
            </a:r>
            <a:r>
              <a:rPr lang="en-US" dirty="0" err="1"/>
              <a:t>LTSpice</a:t>
            </a:r>
            <a:r>
              <a:rPr lang="en-US" dirty="0"/>
              <a:t> a </a:t>
            </a:r>
            <a:r>
              <a:rPr lang="en-US" dirty="0" err="1"/>
              <a:t>convertorului</a:t>
            </a:r>
            <a:r>
              <a:rPr lang="en-US" dirty="0"/>
              <a:t> buck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dimensiuni</a:t>
            </a:r>
            <a:r>
              <a:rPr lang="en-US" dirty="0"/>
              <a:t>? Sau </a:t>
            </a:r>
            <a:r>
              <a:rPr lang="en-US" dirty="0" err="1"/>
              <a:t>presupunem</a:t>
            </a:r>
            <a:r>
              <a:rPr lang="en-US" dirty="0"/>
              <a:t> ca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astea</a:t>
            </a:r>
            <a:r>
              <a:rPr lang="en-US" dirty="0"/>
              <a:t> </a:t>
            </a:r>
            <a:r>
              <a:rPr lang="en-US" dirty="0" err="1"/>
              <a:t>ni</a:t>
            </a:r>
            <a:r>
              <a:rPr lang="en-US" dirty="0"/>
              <a:t> se </a:t>
            </a:r>
            <a:r>
              <a:rPr lang="en-US" dirty="0" err="1"/>
              <a:t>dau</a:t>
            </a:r>
            <a:r>
              <a:rPr lang="en-US" dirty="0"/>
              <a:t>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sigur</a:t>
            </a:r>
            <a:r>
              <a:rPr lang="en-US" dirty="0"/>
              <a:t> </a:t>
            </a:r>
            <a:r>
              <a:rPr lang="en-US" dirty="0" err="1"/>
              <a:t>functioneaza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12162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F6AACE-F707-0891-06A3-8EBE4607415D}"/>
              </a:ext>
            </a:extLst>
          </p:cNvPr>
          <p:cNvSpPr txBox="1"/>
          <p:nvPr/>
        </p:nvSpPr>
        <p:spPr>
          <a:xfrm>
            <a:off x="409904" y="278524"/>
            <a:ext cx="1007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Invertor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A624D0-5EBE-F79E-8A5B-451A1DD69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96" y="704801"/>
            <a:ext cx="4736141" cy="57242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564551-99F0-BFF9-9DB8-BC0CC2251AFF}"/>
              </a:ext>
            </a:extLst>
          </p:cNvPr>
          <p:cNvSpPr txBox="1"/>
          <p:nvPr/>
        </p:nvSpPr>
        <p:spPr>
          <a:xfrm>
            <a:off x="5428593" y="727291"/>
            <a:ext cx="56755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u="sng" dirty="0"/>
              <a:t>Bootstrap:</a:t>
            </a:r>
          </a:p>
          <a:p>
            <a:pPr algn="just"/>
            <a:r>
              <a:rPr lang="en-US" dirty="0"/>
              <a:t>Low side </a:t>
            </a:r>
            <a:r>
              <a:rPr lang="en-US" dirty="0" err="1"/>
              <a:t>sw</a:t>
            </a:r>
            <a:r>
              <a:rPr lang="en-US" dirty="0"/>
              <a:t> on =&gt; </a:t>
            </a:r>
            <a:r>
              <a:rPr lang="en-US" dirty="0" err="1"/>
              <a:t>Cboot</a:t>
            </a:r>
            <a:r>
              <a:rPr lang="en-US" dirty="0"/>
              <a:t> se </a:t>
            </a:r>
            <a:r>
              <a:rPr lang="en-US" dirty="0" err="1"/>
              <a:t>incarca</a:t>
            </a:r>
            <a:r>
              <a:rPr lang="en-US" dirty="0"/>
              <a:t> la 12V (LDO)</a:t>
            </a:r>
          </a:p>
          <a:p>
            <a:pPr algn="just"/>
            <a:r>
              <a:rPr lang="en-US" dirty="0"/>
              <a:t>High side </a:t>
            </a:r>
            <a:r>
              <a:rPr lang="en-US" dirty="0" err="1"/>
              <a:t>sw</a:t>
            </a:r>
            <a:r>
              <a:rPr lang="en-US" dirty="0"/>
              <a:t> on =&gt; out = 36V,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diferenta</a:t>
            </a:r>
            <a:r>
              <a:rPr lang="en-US" dirty="0"/>
              <a:t> de potential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Cboot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fie 12V =&gt; </a:t>
            </a:r>
            <a:r>
              <a:rPr lang="en-US" dirty="0" err="1"/>
              <a:t>Vboot</a:t>
            </a:r>
            <a:r>
              <a:rPr lang="en-US" dirty="0"/>
              <a:t> </a:t>
            </a:r>
            <a:r>
              <a:rPr lang="en-US" dirty="0" err="1"/>
              <a:t>urca</a:t>
            </a:r>
            <a:r>
              <a:rPr lang="en-US" dirty="0"/>
              <a:t> la 48V</a:t>
            </a:r>
          </a:p>
          <a:p>
            <a:pPr algn="just"/>
            <a:r>
              <a:rPr lang="en-US" dirty="0"/>
              <a:t>HU in datasheet:  Vout-0.3 to </a:t>
            </a:r>
            <a:r>
              <a:rPr lang="en-US" dirty="0" err="1"/>
              <a:t>Vboot</a:t>
            </a:r>
            <a:r>
              <a:rPr lang="en-US" dirty="0"/>
              <a:t> + 0.3</a:t>
            </a:r>
          </a:p>
          <a:p>
            <a:pPr algn="just"/>
            <a:r>
              <a:rPr lang="en-US" dirty="0"/>
              <a:t>LU: -0.3 to Vreg + 0.3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E36ACF-1019-A5D7-0E57-B9268CD89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351" y="2569727"/>
            <a:ext cx="2038635" cy="76210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A0C0394-CE9C-9080-2C3F-DA79F9C9F687}"/>
              </a:ext>
            </a:extLst>
          </p:cNvPr>
          <p:cNvSpPr/>
          <p:nvPr/>
        </p:nvSpPr>
        <p:spPr>
          <a:xfrm>
            <a:off x="1417166" y="3429000"/>
            <a:ext cx="784751" cy="42829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360125-1632-9E63-A728-176E14B66E78}"/>
              </a:ext>
            </a:extLst>
          </p:cNvPr>
          <p:cNvSpPr txBox="1"/>
          <p:nvPr/>
        </p:nvSpPr>
        <p:spPr>
          <a:xfrm>
            <a:off x="3019804" y="2828836"/>
            <a:ext cx="227549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Deschidere</a:t>
            </a:r>
            <a:r>
              <a:rPr lang="en-US" sz="1100" dirty="0"/>
              <a:t> </a:t>
            </a:r>
            <a:r>
              <a:rPr lang="en-US" sz="1100" dirty="0" err="1"/>
              <a:t>mai</a:t>
            </a:r>
            <a:r>
              <a:rPr lang="en-US" sz="1100" dirty="0"/>
              <a:t> lenta a </a:t>
            </a:r>
            <a:r>
              <a:rPr lang="en-US" sz="1100" dirty="0" err="1"/>
              <a:t>tranzistorului</a:t>
            </a:r>
            <a:r>
              <a:rPr lang="en-US" sz="1100" dirty="0"/>
              <a:t>, </a:t>
            </a:r>
            <a:r>
              <a:rPr lang="en-US" sz="1100" dirty="0" err="1"/>
              <a:t>capacitatea</a:t>
            </a:r>
            <a:r>
              <a:rPr lang="en-US" sz="1100" dirty="0"/>
              <a:t> CGS se </a:t>
            </a:r>
            <a:r>
              <a:rPr lang="en-US" sz="1100" dirty="0" err="1"/>
              <a:t>incarca</a:t>
            </a:r>
            <a:r>
              <a:rPr lang="en-US" sz="1100" dirty="0"/>
              <a:t> </a:t>
            </a:r>
            <a:r>
              <a:rPr lang="en-US" sz="1100" dirty="0" err="1"/>
              <a:t>mai</a:t>
            </a:r>
            <a:r>
              <a:rPr lang="en-US" sz="1100" dirty="0"/>
              <a:t> </a:t>
            </a:r>
            <a:r>
              <a:rPr lang="en-US" sz="1100" dirty="0" err="1"/>
              <a:t>greu</a:t>
            </a:r>
            <a:r>
              <a:rPr lang="en-US" sz="1100" dirty="0"/>
              <a:t> </a:t>
            </a:r>
            <a:r>
              <a:rPr lang="en-US" sz="1100" dirty="0" err="1"/>
              <a:t>prin</a:t>
            </a:r>
            <a:r>
              <a:rPr lang="en-US" sz="1100" dirty="0"/>
              <a:t> 20 ohm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EA10D1-665A-709C-EFE3-D4C85BC79D53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239339" y="3128918"/>
            <a:ext cx="780465" cy="43799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D3C6EE1-316C-EE26-C2BA-F7F1FD1FB930}"/>
              </a:ext>
            </a:extLst>
          </p:cNvPr>
          <p:cNvSpPr/>
          <p:nvPr/>
        </p:nvSpPr>
        <p:spPr>
          <a:xfrm>
            <a:off x="1454588" y="3970283"/>
            <a:ext cx="784751" cy="4282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5488B1C-BC09-EDA6-1911-04E77A147308}"/>
              </a:ext>
            </a:extLst>
          </p:cNvPr>
          <p:cNvCxnSpPr>
            <a:cxnSpLocks/>
          </p:cNvCxnSpPr>
          <p:nvPr/>
        </p:nvCxnSpPr>
        <p:spPr>
          <a:xfrm flipH="1" flipV="1">
            <a:off x="1846963" y="4455525"/>
            <a:ext cx="209201" cy="3582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862DE69-0039-30C7-5369-F853852C04ED}"/>
              </a:ext>
            </a:extLst>
          </p:cNvPr>
          <p:cNvSpPr txBox="1"/>
          <p:nvPr/>
        </p:nvSpPr>
        <p:spPr>
          <a:xfrm>
            <a:off x="1231125" y="4870701"/>
            <a:ext cx="178867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Vrem</a:t>
            </a:r>
            <a:r>
              <a:rPr lang="en-US" sz="1100" dirty="0"/>
              <a:t> ca la </a:t>
            </a:r>
            <a:r>
              <a:rPr lang="en-US" sz="1100" dirty="0" err="1"/>
              <a:t>blocarea</a:t>
            </a:r>
            <a:r>
              <a:rPr lang="en-US" sz="1100" dirty="0"/>
              <a:t> </a:t>
            </a:r>
            <a:r>
              <a:rPr lang="en-US" sz="1100" dirty="0" err="1"/>
              <a:t>tranzistorului</a:t>
            </a:r>
            <a:r>
              <a:rPr lang="en-US" sz="1100" dirty="0"/>
              <a:t>, </a:t>
            </a:r>
            <a:r>
              <a:rPr lang="en-US" sz="1100" dirty="0" err="1"/>
              <a:t>capacitatea</a:t>
            </a:r>
            <a:r>
              <a:rPr lang="en-US" sz="1100" dirty="0"/>
              <a:t> CGS </a:t>
            </a:r>
            <a:r>
              <a:rPr lang="en-US" sz="1100" dirty="0" err="1"/>
              <a:t>sa</a:t>
            </a:r>
            <a:r>
              <a:rPr lang="en-US" sz="1100" dirty="0"/>
              <a:t> se </a:t>
            </a:r>
            <a:r>
              <a:rPr lang="en-US" sz="1100" dirty="0" err="1"/>
              <a:t>descarce</a:t>
            </a:r>
            <a:r>
              <a:rPr lang="en-US" sz="1100" dirty="0"/>
              <a:t> rapid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68231B-01DA-2447-571C-D4E3C5D2D590}"/>
              </a:ext>
            </a:extLst>
          </p:cNvPr>
          <p:cNvSpPr txBox="1"/>
          <p:nvPr/>
        </p:nvSpPr>
        <p:spPr>
          <a:xfrm>
            <a:off x="5231739" y="4593702"/>
            <a:ext cx="69602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err="1"/>
              <a:t>Vm</a:t>
            </a:r>
            <a:r>
              <a:rPr lang="ro-RO" dirty="0"/>
              <a:t> = 36V, curent prin ramura 10A</a:t>
            </a:r>
          </a:p>
          <a:p>
            <a:r>
              <a:rPr lang="ro-RO" dirty="0" err="1"/>
              <a:t>Vout</a:t>
            </a:r>
            <a:r>
              <a:rPr lang="ro-RO" dirty="0"/>
              <a:t> = 36V pentru </a:t>
            </a:r>
            <a:r>
              <a:rPr lang="ro-RO" dirty="0" err="1"/>
              <a:t>High</a:t>
            </a:r>
            <a:r>
              <a:rPr lang="ro-RO" dirty="0"/>
              <a:t> </a:t>
            </a:r>
            <a:r>
              <a:rPr lang="ro-RO" dirty="0" err="1"/>
              <a:t>side</a:t>
            </a:r>
            <a:r>
              <a:rPr lang="ro-RO" dirty="0"/>
              <a:t> on, 0V pentru </a:t>
            </a:r>
            <a:r>
              <a:rPr lang="ro-RO" dirty="0" err="1"/>
              <a:t>low</a:t>
            </a:r>
            <a:r>
              <a:rPr lang="ro-RO" dirty="0"/>
              <a:t> </a:t>
            </a:r>
            <a:r>
              <a:rPr lang="ro-RO" dirty="0" err="1"/>
              <a:t>side</a:t>
            </a:r>
            <a:r>
              <a:rPr lang="ro-RO" dirty="0"/>
              <a:t> on</a:t>
            </a:r>
          </a:p>
          <a:p>
            <a:r>
              <a:rPr lang="en-US" dirty="0" err="1"/>
              <a:t>Vboot</a:t>
            </a:r>
            <a:r>
              <a:rPr lang="en-US" dirty="0"/>
              <a:t>: Max. (VOUT - 0.3 or -0.3) to min. ('VOUT + VREG12 + 0.3' or 60)</a:t>
            </a:r>
          </a:p>
          <a:p>
            <a:r>
              <a:rPr lang="en-US" dirty="0"/>
              <a:t>VHS: Vout-0.3 to </a:t>
            </a:r>
            <a:r>
              <a:rPr lang="en-US" dirty="0" err="1"/>
              <a:t>Vboot</a:t>
            </a:r>
            <a:r>
              <a:rPr lang="en-US" dirty="0"/>
              <a:t> + 0.3</a:t>
            </a:r>
          </a:p>
          <a:p>
            <a:r>
              <a:rPr lang="en-US" dirty="0"/>
              <a:t>Vls: -0.3 to Vreg + 0.3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432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E2F28-C5F5-F3DD-FF3E-8D365D98D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1" y="17593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err="1"/>
              <a:t>Verificarea</a:t>
            </a:r>
            <a:r>
              <a:rPr lang="en-US" sz="3600" dirty="0"/>
              <a:t> </a:t>
            </a:r>
            <a:r>
              <a:rPr lang="en-US" sz="3600" dirty="0" err="1"/>
              <a:t>functionarii</a:t>
            </a:r>
            <a:r>
              <a:rPr lang="en-US" sz="3600" dirty="0"/>
              <a:t> </a:t>
            </a:r>
            <a:r>
              <a:rPr lang="en-US" sz="3600" dirty="0" err="1"/>
              <a:t>invertorului</a:t>
            </a:r>
            <a:r>
              <a:rPr lang="en-US" sz="3600" dirty="0"/>
              <a:t> in </a:t>
            </a:r>
            <a:r>
              <a:rPr lang="en-US" sz="3600" dirty="0" err="1"/>
              <a:t>LTSpice</a:t>
            </a:r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25B029-5A23-C2AB-655E-DBAAF96CBF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4" y="1215259"/>
            <a:ext cx="7435640" cy="430267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E64D71A-1E33-EC2E-CA9B-E20673D35DE4}"/>
              </a:ext>
            </a:extLst>
          </p:cNvPr>
          <p:cNvSpPr/>
          <p:nvPr/>
        </p:nvSpPr>
        <p:spPr>
          <a:xfrm>
            <a:off x="5365531" y="2424752"/>
            <a:ext cx="412021" cy="418532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9316F3-0381-DF77-6BD1-295E454E5807}"/>
              </a:ext>
            </a:extLst>
          </p:cNvPr>
          <p:cNvCxnSpPr>
            <a:cxnSpLocks/>
          </p:cNvCxnSpPr>
          <p:nvPr/>
        </p:nvCxnSpPr>
        <p:spPr>
          <a:xfrm flipH="1" flipV="1">
            <a:off x="5850340" y="2537346"/>
            <a:ext cx="1555845" cy="347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ECD3B8C-1DBE-4B8B-CE86-4203C686124E}"/>
              </a:ext>
            </a:extLst>
          </p:cNvPr>
          <p:cNvSpPr txBox="1"/>
          <p:nvPr/>
        </p:nvSpPr>
        <p:spPr>
          <a:xfrm>
            <a:off x="7478973" y="2274627"/>
            <a:ext cx="3548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Aceeasi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ca </a:t>
            </a:r>
            <a:r>
              <a:rPr lang="en-US" dirty="0" err="1"/>
              <a:t>cea</a:t>
            </a:r>
            <a:r>
              <a:rPr lang="en-US" dirty="0"/>
              <a:t> din </a:t>
            </a:r>
            <a:r>
              <a:rPr lang="en-US" dirty="0" err="1"/>
              <a:t>datasheetul</a:t>
            </a:r>
            <a:r>
              <a:rPr lang="en-US" dirty="0"/>
              <a:t> </a:t>
            </a:r>
            <a:r>
              <a:rPr lang="en-US" dirty="0" err="1"/>
              <a:t>driverului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B053975-D9CB-13BB-EAF4-DF418DF4C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191" y="3233688"/>
            <a:ext cx="2902462" cy="105466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93EF1E3-E72A-EB5A-A63D-A2FB2F6A2868}"/>
              </a:ext>
            </a:extLst>
          </p:cNvPr>
          <p:cNvSpPr/>
          <p:nvPr/>
        </p:nvSpPr>
        <p:spPr>
          <a:xfrm>
            <a:off x="6145252" y="3475395"/>
            <a:ext cx="412021" cy="418532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1BEFB20-7B3A-0BC1-9376-936A7A03B802}"/>
              </a:ext>
            </a:extLst>
          </p:cNvPr>
          <p:cNvCxnSpPr>
            <a:cxnSpLocks/>
          </p:cNvCxnSpPr>
          <p:nvPr/>
        </p:nvCxnSpPr>
        <p:spPr>
          <a:xfrm flipH="1" flipV="1">
            <a:off x="6701050" y="3620095"/>
            <a:ext cx="1555845" cy="3476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8862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EBC911-E07D-519A-670D-A814BF7D75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019" y="295866"/>
            <a:ext cx="6430010" cy="33210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FFA001-6CCE-36EA-5A26-A89B76122569}"/>
              </a:ext>
            </a:extLst>
          </p:cNvPr>
          <p:cNvSpPr txBox="1"/>
          <p:nvPr/>
        </p:nvSpPr>
        <p:spPr>
          <a:xfrm>
            <a:off x="1323754" y="1196163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36.001V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998123-EB85-92C3-FCF1-D3B8BE44CA2B}"/>
              </a:ext>
            </a:extLst>
          </p:cNvPr>
          <p:cNvSpPr txBox="1"/>
          <p:nvPr/>
        </p:nvSpPr>
        <p:spPr>
          <a:xfrm>
            <a:off x="198071" y="0"/>
            <a:ext cx="639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</a:rPr>
              <a:t>Vout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AADC5D-57B6-4290-F9F2-F1962A989F41}"/>
              </a:ext>
            </a:extLst>
          </p:cNvPr>
          <p:cNvSpPr txBox="1"/>
          <p:nvPr/>
        </p:nvSpPr>
        <p:spPr>
          <a:xfrm>
            <a:off x="6921796" y="1633501"/>
            <a:ext cx="335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VbootU</a:t>
            </a:r>
            <a:r>
              <a:rPr lang="en-US" dirty="0"/>
              <a:t>=36V, VHU=36V, VLU=0V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87B4C9-9DBB-9663-9FBC-69C43152B5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166" y="3094313"/>
            <a:ext cx="6819900" cy="35217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72FE66-6B85-FB88-640B-CA3AAAE04148}"/>
              </a:ext>
            </a:extLst>
          </p:cNvPr>
          <p:cNvSpPr txBox="1"/>
          <p:nvPr/>
        </p:nvSpPr>
        <p:spPr>
          <a:xfrm>
            <a:off x="7054299" y="2810539"/>
            <a:ext cx="639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</a:rPr>
              <a:t>Vout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0B58A-FAFA-85DE-B330-D4489A24CEA0}"/>
              </a:ext>
            </a:extLst>
          </p:cNvPr>
          <p:cNvSpPr txBox="1"/>
          <p:nvPr/>
        </p:nvSpPr>
        <p:spPr>
          <a:xfrm>
            <a:off x="5188688" y="4485836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11.408uV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2CBE22-9058-1EBB-ABF2-176264699D7E}"/>
              </a:ext>
            </a:extLst>
          </p:cNvPr>
          <p:cNvSpPr txBox="1"/>
          <p:nvPr/>
        </p:nvSpPr>
        <p:spPr>
          <a:xfrm>
            <a:off x="1417273" y="5224499"/>
            <a:ext cx="6095114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800" kern="100" dirty="0" err="1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VbootU</a:t>
            </a:r>
            <a:r>
              <a:rPr lang="en-US" sz="1800" kern="1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=36V, VHU=0V, VLU=15V</a:t>
            </a:r>
          </a:p>
        </p:txBody>
      </p:sp>
    </p:spTree>
    <p:extLst>
      <p:ext uri="{BB962C8B-B14F-4D97-AF65-F5344CB8AC3E}">
        <p14:creationId xmlns:p14="http://schemas.microsoft.com/office/powerpoint/2010/main" val="811436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66EB89-0994-828B-C014-1CA7DE28F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6" y="-38263"/>
            <a:ext cx="11685623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ACE31C0-BA2C-1765-61BA-99A46FE1D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510" y="4453649"/>
            <a:ext cx="2714297" cy="1325563"/>
          </a:xfrm>
        </p:spPr>
        <p:txBody>
          <a:bodyPr>
            <a:normAutofit/>
          </a:bodyPr>
          <a:lstStyle/>
          <a:p>
            <a:r>
              <a:rPr lang="en-US" sz="3600" dirty="0"/>
              <a:t>Noul circuit</a:t>
            </a:r>
          </a:p>
        </p:txBody>
      </p:sp>
    </p:spTree>
    <p:extLst>
      <p:ext uri="{BB962C8B-B14F-4D97-AF65-F5344CB8AC3E}">
        <p14:creationId xmlns:p14="http://schemas.microsoft.com/office/powerpoint/2010/main" val="2631720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8F2C40-20BD-C48E-5DB3-3F87845F9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2" y="0"/>
            <a:ext cx="116360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746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14EDA3-A9CC-5B2D-FEFF-DCDD64788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6592905" cy="44616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CD21E2-8A74-7C81-D7E9-F4ADDEF0B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752" y="879635"/>
            <a:ext cx="5410199" cy="587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645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53CFA4-4090-194E-8725-5784F68101F5}"/>
              </a:ext>
            </a:extLst>
          </p:cNvPr>
          <p:cNvSpPr txBox="1"/>
          <p:nvPr/>
        </p:nvSpPr>
        <p:spPr>
          <a:xfrm>
            <a:off x="162911" y="388883"/>
            <a:ext cx="548400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Buck: 3.3V </a:t>
            </a:r>
            <a:r>
              <a:rPr lang="en-US" sz="1400" dirty="0" err="1"/>
              <a:t>alimenteaza</a:t>
            </a:r>
            <a:r>
              <a:rPr lang="en-US" sz="1400" dirty="0"/>
              <a:t> </a:t>
            </a:r>
            <a:r>
              <a:rPr lang="en-US" sz="1400" dirty="0" err="1"/>
              <a:t>ambele</a:t>
            </a:r>
            <a:r>
              <a:rPr lang="en-US" sz="1400" dirty="0"/>
              <a:t> MCU </a:t>
            </a:r>
            <a:r>
              <a:rPr lang="en-US" sz="1400" dirty="0" err="1"/>
              <a:t>si</a:t>
            </a:r>
            <a:r>
              <a:rPr lang="en-US" sz="1400" dirty="0"/>
              <a:t> </a:t>
            </a:r>
            <a:r>
              <a:rPr lang="en-US" sz="1400" dirty="0" err="1"/>
              <a:t>componentele</a:t>
            </a:r>
            <a:r>
              <a:rPr lang="en-US" sz="1400" dirty="0"/>
              <a:t> </a:t>
            </a:r>
            <a:r>
              <a:rPr lang="en-US" sz="1400" dirty="0" err="1"/>
              <a:t>extrene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LDO: </a:t>
            </a:r>
            <a:r>
              <a:rPr lang="en-US" sz="1400" dirty="0" err="1"/>
              <a:t>tensiunea</a:t>
            </a:r>
            <a:r>
              <a:rPr lang="en-US" sz="1400" dirty="0"/>
              <a:t> </a:t>
            </a:r>
            <a:r>
              <a:rPr lang="en-US" sz="1400" dirty="0" err="1"/>
              <a:t>pentru</a:t>
            </a:r>
            <a:r>
              <a:rPr lang="en-US" sz="1400" dirty="0"/>
              <a:t> gate urile de la </a:t>
            </a:r>
            <a:r>
              <a:rPr lang="en-US" sz="1400" dirty="0" err="1"/>
              <a:t>tranzistori</a:t>
            </a:r>
            <a:r>
              <a:rPr lang="en-US" sz="1400" dirty="0"/>
              <a:t> (15V)</a:t>
            </a:r>
          </a:p>
          <a:p>
            <a:endParaRPr lang="en-US" sz="1400" dirty="0"/>
          </a:p>
          <a:p>
            <a:r>
              <a:rPr lang="en-US" sz="1400" dirty="0" err="1"/>
              <a:t>Vm</a:t>
            </a:r>
            <a:r>
              <a:rPr lang="en-US" sz="1400" dirty="0"/>
              <a:t>: power supply voltage -0.3 to 48V</a:t>
            </a:r>
          </a:p>
          <a:p>
            <a:endParaRPr lang="en-US" sz="1400" dirty="0"/>
          </a:p>
          <a:p>
            <a:r>
              <a:rPr lang="en-US" sz="1400" dirty="0"/>
              <a:t>VHS: Vout-0.3 to </a:t>
            </a:r>
            <a:r>
              <a:rPr lang="en-US" sz="1400" dirty="0" err="1"/>
              <a:t>Vboot</a:t>
            </a:r>
            <a:r>
              <a:rPr lang="en-US" sz="1400" dirty="0"/>
              <a:t> + 0.3</a:t>
            </a:r>
          </a:p>
          <a:p>
            <a:r>
              <a:rPr lang="en-US" sz="1400" dirty="0"/>
              <a:t>Vls: -0.3 to Vreg + 0.3</a:t>
            </a:r>
          </a:p>
          <a:p>
            <a:r>
              <a:rPr lang="en-US" sz="1400" dirty="0" err="1"/>
              <a:t>Vboot</a:t>
            </a:r>
            <a:r>
              <a:rPr lang="en-US" sz="1400" dirty="0"/>
              <a:t>: Max. (VOUT - 0.3 or -0.3) to min. ('VOUT + VREG12 + 0.3' or 60)</a:t>
            </a:r>
          </a:p>
          <a:p>
            <a:r>
              <a:rPr lang="en-US" sz="1400" dirty="0"/>
              <a:t>VOUT: -2 to VM + 2</a:t>
            </a:r>
          </a:p>
          <a:p>
            <a:endParaRPr lang="en-US" sz="1400" dirty="0"/>
          </a:p>
          <a:p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7D64B7-91A9-0FEF-1BED-79FED9F40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947" y="2676531"/>
            <a:ext cx="6828570" cy="10275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F7FA21-5C3E-4D11-2389-82855B454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963" y="539387"/>
            <a:ext cx="5986692" cy="13875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A02C87-38CC-189F-7A68-8362591DA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738" y="3749735"/>
            <a:ext cx="6758152" cy="9346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A7F1BB-3E71-5080-2EAC-BA93BBE7C4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3684"/>
          <a:stretch>
            <a:fillRect/>
          </a:stretch>
        </p:blipFill>
        <p:spPr>
          <a:xfrm>
            <a:off x="0" y="4730062"/>
            <a:ext cx="5420496" cy="7460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8EE01C-6189-B9B2-0F70-61FE438EC7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336" y="2444303"/>
            <a:ext cx="5526663" cy="89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178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494</Words>
  <Application>Microsoft Office PowerPoint</Application>
  <PresentationFormat>Widescreen</PresentationFormat>
  <Paragraphs>69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Proiect SI</vt:lpstr>
      <vt:lpstr>1. Alegerea integratului</vt:lpstr>
      <vt:lpstr>Proiectarea/Alegerea celorlalte componente necesare</vt:lpstr>
      <vt:lpstr>PowerPoint Presentation</vt:lpstr>
      <vt:lpstr>PowerPoint Presentation</vt:lpstr>
      <vt:lpstr>PowerPoint Presentation</vt:lpstr>
      <vt:lpstr>PowerPoint Presentation</vt:lpstr>
      <vt:lpstr>Verificarea functionarii invertorului in LTSpice</vt:lpstr>
      <vt:lpstr>PowerPoint Presentation</vt:lpstr>
      <vt:lpstr>Noul circuit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Ancuta Georgiana Pelin</dc:creator>
  <cp:lastModifiedBy>Ancuta Georgiana Pelin</cp:lastModifiedBy>
  <cp:revision>3</cp:revision>
  <dcterms:created xsi:type="dcterms:W3CDTF">2026-04-09T18:03:50Z</dcterms:created>
  <dcterms:modified xsi:type="dcterms:W3CDTF">2026-05-02T20:29:01Z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2026-04-09T22:36:07Z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f53fd2e3-295c-484b-aa8c-3fee32af06fa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